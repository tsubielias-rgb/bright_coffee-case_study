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 autoAdjust="0"/>
    <p:restoredTop sz="94610"/>
  </p:normalViewPr>
  <p:slideViewPr>
    <p:cSldViewPr snapToGrid="0" snapToObjects="1">
      <p:cViewPr>
        <p:scale>
          <a:sx n="73" d="100"/>
          <a:sy n="73" d="100"/>
        </p:scale>
        <p:origin x="32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C985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853D"/>
              </a:solidFill>
              <a:ln w="9525" cap="flat">
                <a:solidFill>
                  <a:srgbClr val="C9853D"/>
                </a:solidFill>
                <a:prstDash val="solid"/>
                <a:round/>
              </a:ln>
              <a:effectLst/>
            </c:spPr>
          </c:marker>
          <c:dLbls>
            <c:numFmt formatCode="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D29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76</c:v>
                </c:pt>
                <c:pt idx="2">
                  <c:v>99</c:v>
                </c:pt>
                <c:pt idx="3">
                  <c:v>119</c:v>
                </c:pt>
                <c:pt idx="4">
                  <c:v>157</c:v>
                </c:pt>
                <c:pt idx="5">
                  <c:v>166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9B-46FD-A468-572FB6836D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C985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D29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09:00–12:00</c:v>
                </c:pt>
                <c:pt idx="1">
                  <c:v>06:00–09:00</c:v>
                </c:pt>
                <c:pt idx="2">
                  <c:v>15:00–18:00</c:v>
                </c:pt>
                <c:pt idx="3">
                  <c:v>12:00–15:00</c:v>
                </c:pt>
                <c:pt idx="4">
                  <c:v>18:00–21:00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66118</c:v>
                </c:pt>
                <c:pt idx="1">
                  <c:v>51511</c:v>
                </c:pt>
                <c:pt idx="2">
                  <c:v>38504</c:v>
                </c:pt>
                <c:pt idx="3">
                  <c:v>38036</c:v>
                </c:pt>
                <c:pt idx="4">
                  <c:v>20301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0C-4051-87F0-E56578EE5A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5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0472E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D29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Coffee beans</c:v>
                </c:pt>
                <c:pt idx="5">
                  <c:v>Branded</c:v>
                </c:pt>
                <c:pt idx="6">
                  <c:v>Loose Tea</c:v>
                </c:pt>
                <c:pt idx="7">
                  <c:v>Flavours</c:v>
                </c:pt>
                <c:pt idx="8">
                  <c:v>Packaged Chocolate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40085</c:v>
                </c:pt>
                <c:pt idx="5">
                  <c:v>13607</c:v>
                </c:pt>
                <c:pt idx="6">
                  <c:v>11214</c:v>
                </c:pt>
                <c:pt idx="7">
                  <c:v>8409</c:v>
                </c:pt>
                <c:pt idx="8">
                  <c:v>4408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B8-4B3F-B29E-5DE5E758A5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853D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D29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Barista Espresso</c:v>
                </c:pt>
                <c:pt idx="1">
                  <c:v>Brewed Chai tea</c:v>
                </c:pt>
                <c:pt idx="2">
                  <c:v>Hot chocolate</c:v>
                </c:pt>
                <c:pt idx="3">
                  <c:v>Gourmet brewed coffee</c:v>
                </c:pt>
                <c:pt idx="4">
                  <c:v>Brewed Black tea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91406</c:v>
                </c:pt>
                <c:pt idx="1">
                  <c:v>77082</c:v>
                </c:pt>
                <c:pt idx="2">
                  <c:v>72416</c:v>
                </c:pt>
                <c:pt idx="3">
                  <c:v>70035</c:v>
                </c:pt>
                <c:pt idx="4">
                  <c:v>47932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9B-4769-9222-A4D9458EBE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7487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D29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Earl Grey Rg</c:v>
                </c:pt>
                <c:pt idx="1">
                  <c:v>Dark chocolate Lg</c:v>
                </c:pt>
                <c:pt idx="2">
                  <c:v>Morning Sunrise Chai Rg</c:v>
                </c:pt>
                <c:pt idx="3">
                  <c:v>Latte</c:v>
                </c:pt>
                <c:pt idx="4">
                  <c:v>Peppermint Rg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4708</c:v>
                </c:pt>
                <c:pt idx="1">
                  <c:v>4668</c:v>
                </c:pt>
                <c:pt idx="2">
                  <c:v>4643</c:v>
                </c:pt>
                <c:pt idx="3">
                  <c:v>4602</c:v>
                </c:pt>
                <c:pt idx="4">
                  <c:v>4564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0C-4C21-AB0B-39B9ED967C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56B6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1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growth story: Bright Coffee generated nearly $699k in six months and more than doubled monthly revenue from January to June.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one-minute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revenue declined slightly in February, then rose for four consecutive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Nearly 118 thousand items were sold before 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Coffee and tea together contribute roughly 67% of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Barista Espresso leads product-type revenue; Earl Grey Regular leads item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morning peak is consistent across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four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9853D"/>
          </a:solidFill>
          <a:ln w="12700">
            <a:solidFill>
              <a:srgbClr val="C98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B4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COFFEE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7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Coffee Data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0" y="651967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7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BRIGHT COFFEE SHOP ANALYSIS DASHBOARD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D7C6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D7C6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2A1B15">
              <a:alpha val="92000"/>
            </a:srgbClr>
          </a:solidFill>
          <a:ln w="12700">
            <a:solidFill>
              <a:srgbClr val="2A1B1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594360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5A3A29"/>
          </a:solidFill>
          <a:ln w="8890">
            <a:solidFill>
              <a:srgbClr val="5A3A2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662940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D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JANUARY–JUNE 2023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353312"/>
            <a:ext cx="5577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94944" y="320040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AD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Revenue, customer demand and product performance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94944" y="4736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2B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$698,812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713232" y="5330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D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73552" y="47365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149,116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3291840" y="5330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D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4944" y="6153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DB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8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A1B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is strong — and operationally concentrated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doubled across the period, with demand centered on morning hours and two core categories.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874520"/>
            <a:ext cx="250545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04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$698,812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46704" y="1874520"/>
            <a:ext cx="250545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8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214,470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02152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Items sold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3056" y="1874520"/>
            <a:ext cx="250545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504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149,116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18504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79408" y="1874520"/>
            <a:ext cx="250545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4856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A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34856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transaction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246120"/>
            <a:ext cx="53218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4107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98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3383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momentum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694176"/>
            <a:ext cx="4069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 revenue reached $166k, 102% above January.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3246120"/>
            <a:ext cx="53218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4107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4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22592" y="3383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engine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22592" y="3694176"/>
            <a:ext cx="4069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55% of items sold occur before noon.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4416552"/>
            <a:ext cx="53218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5811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4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71600" y="45537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category strength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864608"/>
            <a:ext cx="4069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Coffee and tea generate 67% of total revenue.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81344" y="4416552"/>
            <a:ext cx="53218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45811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4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022592" y="45537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footprint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22592" y="4864608"/>
            <a:ext cx="4069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three stores contribute roughly one-third of revenue.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5650992"/>
            <a:ext cx="11109960" cy="594360"/>
          </a:xfrm>
          <a:prstGeom prst="roundRect">
            <a:avLst>
              <a:gd name="adj" fmla="val 9231"/>
            </a:avLst>
          </a:prstGeom>
          <a:solidFill>
            <a:srgbClr val="EFE2D3"/>
          </a:solidFill>
          <a:ln w="8890">
            <a:solidFill>
              <a:srgbClr val="EFE2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5650992"/>
            <a:ext cx="73152" cy="594360"/>
          </a:xfrm>
          <a:prstGeom prst="rect">
            <a:avLst/>
          </a:prstGeom>
          <a:solidFill>
            <a:srgbClr val="C9853D"/>
          </a:solidFill>
          <a:ln w="12700">
            <a:solidFill>
              <a:srgbClr val="C985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" y="5815584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focus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0664" y="6144768"/>
            <a:ext cx="1072591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morning rush, deepen coffee and tea attachment, and convert strong traffic into a higher basket value.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D7C6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8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A1B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revenue more than doubled by June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trajectory accelerated sharply from March, reaching $166k in June.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30352" y="1874520"/>
          <a:ext cx="7452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439912" y="1965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C98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+102%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8458200" y="2587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→ JUN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39912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74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3.8×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8458200" y="3867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VS FEB LOW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0" y="4617720"/>
            <a:ext cx="3017520" cy="1298448"/>
          </a:xfrm>
          <a:prstGeom prst="roundRect">
            <a:avLst>
              <a:gd name="adj" fmla="val 4225"/>
            </a:avLst>
          </a:prstGeom>
          <a:solidFill>
            <a:srgbClr val="F5E9DA"/>
          </a:solidFill>
          <a:ln w="8890">
            <a:solidFill>
              <a:srgbClr val="F5E9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4617720"/>
            <a:ext cx="73152" cy="1298448"/>
          </a:xfrm>
          <a:prstGeom prst="rect">
            <a:avLst/>
          </a:prstGeom>
          <a:solidFill>
            <a:srgbClr val="C9853D"/>
          </a:solidFill>
          <a:ln w="12700">
            <a:solidFill>
              <a:srgbClr val="C985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9912" y="478231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next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39912" y="5111496"/>
            <a:ext cx="2633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 the post-March momentum and identify the campaigns, products or customer patterns behind the acceleration.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D7C6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8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DAYPART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A1B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is built around the morning rush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 is the top revenue hour; 09:00–12:00 is the largest item-selling period.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30352" y="1847088"/>
          <a:ext cx="617220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1847088"/>
            <a:ext cx="4590288" cy="2578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59168" y="3986784"/>
            <a:ext cx="4590288" cy="438912"/>
          </a:xfrm>
          <a:prstGeom prst="rect">
            <a:avLst/>
          </a:prstGeom>
          <a:solidFill>
            <a:srgbClr val="2A1B15">
              <a:alpha val="92000"/>
            </a:srgbClr>
          </a:solidFill>
          <a:ln w="12700">
            <a:solidFill>
              <a:srgbClr val="2A1B15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269480" y="40965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55% of items sold before noon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059168" y="4700016"/>
            <a:ext cx="4590288" cy="1371600"/>
          </a:xfrm>
          <a:prstGeom prst="roundRect">
            <a:avLst>
              <a:gd name="adj" fmla="val 4000"/>
            </a:avLst>
          </a:prstGeom>
          <a:solidFill>
            <a:srgbClr val="F2E8D8"/>
          </a:solidFill>
          <a:ln w="8890">
            <a:solidFill>
              <a:srgbClr val="F2E8D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59168" y="4700016"/>
            <a:ext cx="73152" cy="1371600"/>
          </a:xfrm>
          <a:prstGeom prst="rect">
            <a:avLst/>
          </a:prstGeom>
          <a:solidFill>
            <a:srgbClr val="D7A21F"/>
          </a:solidFill>
          <a:ln w="12700">
            <a:solidFill>
              <a:srgbClr val="D7A21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69480" y="48646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implication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269480" y="519379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strongest coverage for 07:00–11:00, protect espresso throughput, and stage fast-moving products before opening.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D7C6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8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A1B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and tea produce two-thirds of revenue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beverage franchise is strong; bakery is the leading food attachment.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30352" y="1847088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882128" y="19385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98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66.7%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900416" y="2551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COFFEE + TEA REVENUE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82128" y="331927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4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$82,316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900416" y="38587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BAKERY REVENUE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26680" y="4617720"/>
            <a:ext cx="3547872" cy="1408176"/>
          </a:xfrm>
          <a:prstGeom prst="roundRect">
            <a:avLst>
              <a:gd name="adj" fmla="val 3896"/>
            </a:avLst>
          </a:prstGeom>
          <a:solidFill>
            <a:srgbClr val="F5E9DA"/>
          </a:solidFill>
          <a:ln w="8890">
            <a:solidFill>
              <a:srgbClr val="F5E9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4617720"/>
            <a:ext cx="73152" cy="1408176"/>
          </a:xfrm>
          <a:prstGeom prst="rect">
            <a:avLst/>
          </a:prstGeom>
          <a:solidFill>
            <a:srgbClr val="C9853D"/>
          </a:solidFill>
          <a:ln w="12700">
            <a:solidFill>
              <a:srgbClr val="C985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36992" y="4782312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move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36992" y="5111496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bakery bundles to lift basket value during the morning rush; preserve coffee and tea availability as traffic anchors.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D7C6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8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A1B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Espresso leads revenue; tea leads unit volume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leadership and unit-volume leadership come from different products.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8288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04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PRODUCT TYPES BY REVENUE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30352" y="2194560"/>
          <a:ext cx="5230368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72784" y="1828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487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PRODUCTS BY ITEMS SOLD</a:t>
            </a:r>
            <a:endParaRPr lang="en-US" sz="11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272784" y="2194560"/>
          <a:ext cx="502920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30352" y="5715000"/>
            <a:ext cx="10771632" cy="530352"/>
          </a:xfrm>
          <a:prstGeom prst="roundRect">
            <a:avLst>
              <a:gd name="adj" fmla="val 10345"/>
            </a:avLst>
          </a:prstGeom>
          <a:solidFill>
            <a:srgbClr val="F3E9D6"/>
          </a:solidFill>
          <a:ln w="8890">
            <a:solidFill>
              <a:srgbClr val="F3E9D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0352" y="5715000"/>
            <a:ext cx="73152" cy="530352"/>
          </a:xfrm>
          <a:prstGeom prst="rect">
            <a:avLst/>
          </a:prstGeom>
          <a:solidFill>
            <a:srgbClr val="D7A21F"/>
          </a:solidFill>
          <a:ln w="12700">
            <a:solidFill>
              <a:srgbClr val="D7A21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0664" y="5879592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Merchandising move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40664" y="6208776"/>
            <a:ext cx="103875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high-revenue espresso alongside high-volume tea products; test bakery attachments across both missions.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D7C6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8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A1B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intensity is strongest from 08:00 to 10:00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strength appears consistently across the week.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47088"/>
            <a:ext cx="7452360" cy="40965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993392"/>
            <a:ext cx="290779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0496" y="2130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hour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40496" y="24231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 produces $88k in revenue.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339328" y="3072384"/>
            <a:ext cx="290779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0496" y="3209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weekdays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40496" y="3502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revenue ranges only 5%.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39328" y="4151376"/>
            <a:ext cx="290779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ED3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40496" y="42885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Late-day taper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40496" y="45811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falls materially after 18:00.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339328" y="5285232"/>
            <a:ext cx="2907792" cy="658368"/>
          </a:xfrm>
          <a:prstGeom prst="roundRect">
            <a:avLst>
              <a:gd name="adj" fmla="val 8333"/>
            </a:avLst>
          </a:prstGeom>
          <a:solidFill>
            <a:srgbClr val="F5E9DA"/>
          </a:solidFill>
          <a:ln w="8890">
            <a:solidFill>
              <a:srgbClr val="F5E9D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39328" y="5285232"/>
            <a:ext cx="73152" cy="658368"/>
          </a:xfrm>
          <a:prstGeom prst="rect">
            <a:avLst/>
          </a:prstGeom>
          <a:solidFill>
            <a:srgbClr val="C9853D"/>
          </a:solidFill>
          <a:ln w="12700">
            <a:solidFill>
              <a:srgbClr val="C985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544982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B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Scheduling lens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49640" y="5779008"/>
            <a:ext cx="252374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Concentrate labour, prep and recovery capacity around 08:00–10:00.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D7C6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0"/>
            <a:ext cx="5562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72200" y="0"/>
            <a:ext cx="1508760" cy="6858000"/>
          </a:xfrm>
          <a:prstGeom prst="rect">
            <a:avLst/>
          </a:prstGeom>
          <a:solidFill>
            <a:srgbClr val="2A1B15">
              <a:alpha val="88000"/>
            </a:srgbClr>
          </a:solidFill>
          <a:ln w="12700">
            <a:solidFill>
              <a:srgbClr val="2A1B1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530352"/>
            <a:ext cx="2011680" cy="310896"/>
          </a:xfrm>
          <a:prstGeom prst="roundRect">
            <a:avLst>
              <a:gd name="adj" fmla="val 35294"/>
            </a:avLst>
          </a:prstGeom>
          <a:solidFill>
            <a:srgbClr val="5B3927"/>
          </a:solidFill>
          <a:ln w="8890">
            <a:solidFill>
              <a:srgbClr val="5B39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9893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D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ACTION AGENDA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1060704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traffic into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higher-value growth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58368" y="25146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7A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25146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the morning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51760" y="251460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C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07:00–11:00 speed, availability and staffing.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33558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7A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34440" y="33558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the basket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51760" y="335584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C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 bakery with coffee and tea during peak periods.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" y="41970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7A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34440" y="41970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what works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51760" y="419709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C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product and service practices across all stores.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" y="50383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7A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34440" y="50383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the levers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51760" y="503834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C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hourly revenue, basket value and attachment weekly.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" y="61264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D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Success: sustain revenue growth while increasing the $4.69 average transaction value.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0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E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dashboard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2128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EAD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pages retained for reference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1800000">
            <a:off x="8412480" y="1097280"/>
            <a:ext cx="2377440" cy="2377440"/>
          </a:xfrm>
          <a:prstGeom prst="arc">
            <a:avLst/>
          </a:prstGeom>
          <a:solidFill>
            <a:srgbClr val="C9853D">
              <a:alpha val="65000"/>
            </a:srgbClr>
          </a:solidFill>
          <a:ln w="25400">
            <a:solidFill>
              <a:srgbClr val="D7A21F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DASHBOARD • PAGE 1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02920"/>
            <a:ext cx="11311128" cy="6016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92840" y="1645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DASHBOARD • PAGE 2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02920"/>
            <a:ext cx="11311128" cy="6016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92840" y="1645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DASHBOARD • PAGE 3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02920"/>
            <a:ext cx="11311128" cy="6016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92840" y="1645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DASHBOARD • PAGE 4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02920"/>
            <a:ext cx="11311128" cy="6016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92840" y="1645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614</Words>
  <Application>Microsoft Office PowerPoint</Application>
  <PresentationFormat>Widescreen</PresentationFormat>
  <Paragraphs>130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Bright Coffee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Data Analysis</dc:title>
  <dc:subject>Bright Coffee Data Analysis</dc:subject>
  <dc:creator>Prepared from supplied dashboard</dc:creator>
  <cp:lastModifiedBy>DOD2471327</cp:lastModifiedBy>
  <cp:revision>2</cp:revision>
  <dcterms:created xsi:type="dcterms:W3CDTF">2026-09-30T17:13:01Z</dcterms:created>
  <dcterms:modified xsi:type="dcterms:W3CDTF">2026-09-30T18:16:01Z</dcterms:modified>
</cp:coreProperties>
</file>